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Barlow Bold" charset="1" panose="00000800000000000000"/>
      <p:regular r:id="rId24"/>
    </p:embeddedFont>
    <p:embeddedFont>
      <p:font typeface="Barlow Semi-Bold" charset="1" panose="00000700000000000000"/>
      <p:regular r:id="rId25"/>
    </p:embeddedFont>
    <p:embeddedFont>
      <p:font typeface="Barlow" charset="1" panose="00000500000000000000"/>
      <p:regular r:id="rId26"/>
    </p:embeddedFont>
    <p:embeddedFont>
      <p:font typeface="Barlow Bold Italics" charset="1" panose="00000800000000000000"/>
      <p:regular r:id="rId28"/>
    </p:embeddedFont>
    <p:embeddedFont>
      <p:font typeface="Barlow Italics" charset="1" panose="00000500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notesSlides/notesSlide2.xml" Type="http://schemas.openxmlformats.org/officeDocument/2006/relationships/notesSlide"/><Relationship Id="rId28" Target="fonts/font28.fntdata" Type="http://schemas.openxmlformats.org/officeDocument/2006/relationships/font"/><Relationship Id="rId29" Target="notesSlides/notesSlide3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4.xml" Type="http://schemas.openxmlformats.org/officeDocument/2006/relationships/notesSlide"/><Relationship Id="rId31" Target="notesSlides/notesSlide5.xml" Type="http://schemas.openxmlformats.org/officeDocument/2006/relationships/notesSlide"/><Relationship Id="rId32" Target="notesSlides/notesSlide6.xml" Type="http://schemas.openxmlformats.org/officeDocument/2006/relationships/notesSlide"/><Relationship Id="rId33" Target="notesSlides/notesSlide7.xml" Type="http://schemas.openxmlformats.org/officeDocument/2006/relationships/notesSlide"/><Relationship Id="rId34" Target="fonts/font34.fntdata" Type="http://schemas.openxmlformats.org/officeDocument/2006/relationships/font"/><Relationship Id="rId35" Target="notesSlides/notesSlide8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Former colleague of Jens and Dirk, but don't hold that against me</a:t>
            </a:r>
          </a:p>
          <a:p>
            <a:r>
              <a:rPr lang="en-US"/>
              <a:t/>
            </a:r>
          </a:p>
          <a:p>
            <a:r>
              <a:rPr lang="en-US"/>
              <a:t>People are free to ask questions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Vraag naar wat men zelf denkt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Machine learning uses a lot of matrix multiplications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Source: 3-languages-3-paradigms/r.R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First-class citizen:</a:t>
            </a:r>
          </a:p>
          <a:p>
            <a:r>
              <a:rPr lang="en-US"/>
              <a:t> - Pass as argument</a:t>
            </a:r>
          </a:p>
          <a:p>
            <a:r>
              <a:rPr lang="en-US"/>
              <a:t> - Return from function</a:t>
            </a:r>
          </a:p>
          <a:p>
            <a:r>
              <a:rPr lang="en-US"/>
              <a:t> - Assign to variable </a:t>
            </a:r>
          </a:p>
          <a:p>
            <a:r>
              <a:rPr lang="en-US"/>
              <a:t/>
            </a:r>
          </a:p>
          <a:p>
            <a:r>
              <a:rPr lang="en-US"/>
              <a:t>Expressive type system:</a:t>
            </a:r>
          </a:p>
          <a:p>
            <a:r>
              <a:rPr lang="en-US"/>
              <a:t>- No nulls</a:t>
            </a:r>
          </a:p>
          <a:p>
            <a:r>
              <a:rPr lang="en-US"/>
              <a:t>- Type inference</a:t>
            </a:r>
          </a:p>
          <a:p>
            <a:r>
              <a:rPr lang="en-US"/>
              <a:t>- Automatic generalization</a:t>
            </a:r>
          </a:p>
          <a:p>
            <a:r>
              <a:rPr lang="en-US"/>
              <a:t/>
            </a:r>
          </a:p>
          <a:p>
            <a:r>
              <a:rPr lang="en-US"/>
              <a:t>There are more associated concepts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Source: https://github.com/ErikSchierboom/presentations/blob/main/3-languages-3-paradigms/fsharp.fsx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Never really became popular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Source: https://github.com/ErikSchierboom/presentations/blob/main/3-languages-3-paradigms/prolog.pl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VAGU3vjtBE4.mp4" Type="http://schemas.openxmlformats.org/officeDocument/2006/relationships/video"/><Relationship Id="rId4" Target="../media/VAGU3vjtBE4.mp4" Type="http://schemas.microsoft.com/office/2007/relationships/media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VAGPJhy7Kpc.mp4" Type="http://schemas.openxmlformats.org/officeDocument/2006/relationships/video"/><Relationship Id="rId4" Target="../media/VAGPJhy7Kpc.mp4" Type="http://schemas.microsoft.com/office/2007/relationships/media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5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5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6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5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3059551"/>
            <a:ext cx="15430500" cy="16255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300"/>
              </a:lnSpc>
              <a:spcBef>
                <a:spcPct val="0"/>
              </a:spcBef>
            </a:pPr>
            <a:r>
              <a:rPr lang="en-US" b="true" sz="9500" strike="noStrike" u="none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3 Talen - 3 Paradigma’s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208613" y="5038725"/>
            <a:ext cx="11870774" cy="171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FFFF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Waarom je nieuwe programmeertalen zou moeten leren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208613" y="8670925"/>
            <a:ext cx="11870774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Erik Schierboom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2553803"/>
            <a:ext cx="15430500" cy="3779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"A language that doesn't affect the way you think about programming, is not worth knowing."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28750" y="7064225"/>
            <a:ext cx="13036123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9"/>
              </a:lnSpc>
              <a:spcBef>
                <a:spcPct val="0"/>
              </a:spcBef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— Alan J. Perlis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1295400"/>
            <a:ext cx="15430500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Voordelen van leren </a:t>
            </a: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nieuwe taal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419225" y="3922940"/>
            <a:ext cx="7018828" cy="3917071"/>
            <a:chOff x="0" y="0"/>
            <a:chExt cx="9358437" cy="5222761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988158"/>
              <a:ext cx="9358437" cy="42346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Nieuwe vaardigheden opdoen</a:t>
              </a:r>
            </a:p>
            <a:p>
              <a:pPr algn="l" marL="1381758" indent="-460586" lvl="2">
                <a:lnSpc>
                  <a:spcPts val="5119"/>
                </a:lnSpc>
                <a:buFont typeface="Arial"/>
                <a:buChar char="⚬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Vaak toepasbaar in je werk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Sneller leren van nieuwe talen 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Kies beste taal voor je doel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Staat g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oed op je CV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66675"/>
              <a:ext cx="8880219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Professioneel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0" y="3922940"/>
            <a:ext cx="8115300" cy="3917071"/>
            <a:chOff x="0" y="0"/>
            <a:chExt cx="10820400" cy="522276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988158"/>
              <a:ext cx="10287000" cy="42346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Stimuleert brein</a:t>
              </a:r>
            </a:p>
            <a:p>
              <a:pPr algn="l" marL="1381758" indent="-460586" lvl="2">
                <a:lnSpc>
                  <a:spcPts val="5119"/>
                </a:lnSpc>
                <a:buFont typeface="Arial"/>
                <a:buChar char="⚬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Verbetert geheugen</a:t>
              </a:r>
            </a:p>
            <a:p>
              <a:pPr algn="l" marL="1381758" indent="-460586" lvl="2">
                <a:lnSpc>
                  <a:spcPts val="5119"/>
                </a:lnSpc>
                <a:buFont typeface="Arial"/>
                <a:buChar char="⚬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Bevordert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 creativiteit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Zelfvertrouwen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Plezier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10287000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Persoonlijk</a:t>
              </a:r>
            </a:p>
          </p:txBody>
        </p:sp>
        <p:sp>
          <p:nvSpPr>
            <p:cNvPr name="Freeform 9" id="9"/>
            <p:cNvSpPr/>
            <p:nvPr/>
          </p:nvSpPr>
          <p:spPr>
            <a:xfrm flipH="false" flipV="false" rot="0">
              <a:off x="7187605" y="1121508"/>
              <a:ext cx="3632795" cy="3860800"/>
            </a:xfrm>
            <a:custGeom>
              <a:avLst/>
              <a:gdLst/>
              <a:ahLst/>
              <a:cxnLst/>
              <a:rect r="r" b="b" t="t" l="l"/>
              <a:pathLst>
                <a:path h="3860800" w="3632795">
                  <a:moveTo>
                    <a:pt x="0" y="0"/>
                  </a:moveTo>
                  <a:lnTo>
                    <a:pt x="3632795" y="0"/>
                  </a:lnTo>
                  <a:lnTo>
                    <a:pt x="3632795" y="3860800"/>
                  </a:lnTo>
                  <a:lnTo>
                    <a:pt x="0" y="3860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88875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1295400"/>
            <a:ext cx="15430500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Kiezen van een taal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438275" y="3007695"/>
            <a:ext cx="15420975" cy="3991911"/>
            <a:chOff x="0" y="0"/>
            <a:chExt cx="20561300" cy="5322548"/>
          </a:xfrm>
        </p:grpSpPr>
        <p:pic>
          <p:nvPicPr>
            <p:cNvPr name="Picture 4" id="4">
              <a:hlinkClick action="ppaction://media"/>
            </p:cNvPr>
            <p:cNvPicPr>
              <a:picLocks noChangeAspect="true"/>
            </p:cNvPicPr>
            <p:nvPr>
              <a:videoFile r:link="rId3"/>
              <p:extLst>
                <p:ext uri="{DAA4B4D4-6D71-4841-9C94-3DE7FCFB9230}">
                  <p14:media xmlns:p14="http://schemas.microsoft.com/office/powerpoint/2010/main" r:embed="rId4"/>
                </p:ext>
              </p:extLst>
            </p:nvPr>
          </p:nvPicPr>
          <p:blipFill>
            <a:blip r:embed="rId2"/>
            <a:srcRect l="0" t="0" r="0" b="0"/>
            <a:stretch>
              <a:fillRect/>
            </a:stretch>
          </p:blipFill>
          <p:spPr>
            <a:xfrm flipH="false" flipV="false" rot="0">
              <a:off x="13464570" y="0"/>
              <a:ext cx="7096730" cy="5322548"/>
            </a:xfrm>
            <a:prstGeom prst="rect">
              <a:avLst/>
            </a:prstGeom>
          </p:spPr>
        </p:pic>
        <p:sp>
          <p:nvSpPr>
            <p:cNvPr name="TextBox 5" id="5"/>
            <p:cNvSpPr txBox="true"/>
            <p:nvPr/>
          </p:nvSpPr>
          <p:spPr>
            <a:xfrm rot="0">
              <a:off x="0" y="-66675"/>
              <a:ext cx="13346234" cy="41078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79"/>
                </a:lnSpc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Veelgebruikte s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electiecriteria: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Populariteit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Platform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Potentie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Paradigma (onze aanbeveling)</a:t>
              </a:r>
            </a:p>
          </p:txBody>
        </p:sp>
      </p:grp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1295400"/>
            <a:ext cx="9069409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Paradigma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28750" y="4492150"/>
            <a:ext cx="15830550" cy="110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Bekende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paradigma’s: </a:t>
            </a:r>
            <a:r>
              <a:rPr lang="en-US" b="true" sz="3199" spc="12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Object-Oriented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, </a:t>
            </a:r>
            <a:r>
              <a:rPr lang="en-US" b="true" sz="3199" spc="12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Imperative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en </a:t>
            </a:r>
            <a:r>
              <a:rPr lang="en-US" b="true" sz="3199" spc="12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Functional 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Programming</a:t>
            </a:r>
          </a:p>
          <a:p>
            <a:pPr algn="l" marL="690879" indent="-345439" lvl="1">
              <a:lnSpc>
                <a:spcPts val="4479"/>
              </a:lnSpc>
              <a:buFont typeface="Arial"/>
              <a:buChar char="•"/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Meeste talen ondersteunen meerdere paradigma’s!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28750" y="5977733"/>
            <a:ext cx="158305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We gaan kijken naar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3 paradigma’s: </a:t>
            </a:r>
            <a:r>
              <a:rPr lang="en-US" b="true" sz="3199" spc="12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Array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, </a:t>
            </a:r>
            <a:r>
              <a:rPr lang="en-US" b="true" sz="3199" spc="12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Stack-based 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en </a:t>
            </a:r>
            <a:r>
              <a:rPr lang="en-US" b="true" sz="3199" spc="12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Logic</a:t>
            </a: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Programming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419225" y="6968015"/>
            <a:ext cx="15830550" cy="2957662"/>
            <a:chOff x="0" y="0"/>
            <a:chExt cx="21107400" cy="3943550"/>
          </a:xfrm>
        </p:grpSpPr>
        <p:pic>
          <p:nvPicPr>
            <p:cNvPr name="Picture 6" id="6">
              <a:hlinkClick action="ppaction://media"/>
            </p:cNvPr>
            <p:cNvPicPr>
              <a:picLocks noChangeAspect="true"/>
            </p:cNvPicPr>
            <p:nvPr>
              <a:videoFile r:link="rId3"/>
              <p:extLst>
                <p:ext uri="{DAA4B4D4-6D71-4841-9C94-3DE7FCFB9230}">
                  <p14:media xmlns:p14="http://schemas.microsoft.com/office/powerpoint/2010/main" r:embed="rId4"/>
                </p:ext>
              </p:extLst>
            </p:nvPr>
          </p:nvPicPr>
          <p:blipFill>
            <a:blip r:embed="rId2"/>
            <a:srcRect l="0" t="0" r="0" b="0"/>
            <a:stretch>
              <a:fillRect/>
            </a:stretch>
          </p:blipFill>
          <p:spPr>
            <a:xfrm flipH="false" flipV="false" rot="0">
              <a:off x="15210854" y="0"/>
              <a:ext cx="5896546" cy="3943550"/>
            </a:xfrm>
            <a:prstGeom prst="rect">
              <a:avLst/>
            </a:prstGeom>
          </p:spPr>
        </p:pic>
        <p:sp>
          <p:nvSpPr>
            <p:cNvPr name="TextBox 7" id="7"/>
            <p:cNvSpPr txBox="true"/>
            <p:nvPr/>
          </p:nvSpPr>
          <p:spPr>
            <a:xfrm rot="0">
              <a:off x="0" y="47625"/>
              <a:ext cx="13637238" cy="29555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479"/>
                </a:lnSpc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Gevolgen van leren taal met onbekend 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paradigma:</a:t>
              </a:r>
            </a:p>
            <a:p>
              <a:pPr algn="l" marL="690879" indent="-345439" lvl="1">
                <a:lnSpc>
                  <a:spcPts val="447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Je leert meer</a:t>
              </a:r>
            </a:p>
            <a:p>
              <a:pPr algn="l" marL="690879" indent="-345439" lvl="1">
                <a:lnSpc>
                  <a:spcPts val="447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Begin is lastig (🍏)</a:t>
              </a:r>
            </a:p>
            <a:p>
              <a:pPr algn="l" marL="690879" indent="-345439" lvl="1">
                <a:lnSpc>
                  <a:spcPts val="447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Geeft veel voldoening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28750" y="2931645"/>
            <a:ext cx="15830550" cy="1261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b="true" sz="3599" i="true" spc="14">
                <a:solidFill>
                  <a:srgbClr val="FFFFFF"/>
                </a:solidFill>
                <a:latin typeface="Barlow Bold Italics"/>
                <a:ea typeface="Barlow Bold Italics"/>
                <a:cs typeface="Barlow Bold Italics"/>
                <a:sym typeface="Barlow Bold Italics"/>
              </a:rPr>
              <a:t>High-level omschrijving van de structuur en het executie model van een programmeertaal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0">
                <p:cTn fill="hold" display="false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3992078"/>
            <a:ext cx="15430500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7F7F7"/>
                </a:solidFill>
                <a:latin typeface="Barlow Bold"/>
                <a:ea typeface="Barlow Bold"/>
                <a:cs typeface="Barlow Bold"/>
                <a:sym typeface="Barlow Bold"/>
              </a:rPr>
              <a:t>Array Programming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1295400"/>
            <a:ext cx="9069409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Array Programming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28750" y="2925146"/>
            <a:ext cx="15830550" cy="622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  <a:spcBef>
                <a:spcPct val="0"/>
              </a:spcBef>
            </a:pPr>
            <a:r>
              <a:rPr lang="en-US" b="true" sz="3599">
                <a:solidFill>
                  <a:srgbClr val="FFFFFF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Operaties zijn toepasbaar op verzamelingen van waarden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428750" y="6775341"/>
            <a:ext cx="15830550" cy="1872448"/>
            <a:chOff x="0" y="0"/>
            <a:chExt cx="21107400" cy="2496597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852793"/>
              <a:ext cx="21107400" cy="16438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(Data) science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AI berekeningen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-66675"/>
              <a:ext cx="9334500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Toepassingen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1749758" y="5713828"/>
            <a:ext cx="5509542" cy="3544472"/>
          </a:xfrm>
          <a:custGeom>
            <a:avLst/>
            <a:gdLst/>
            <a:ahLst/>
            <a:cxnLst/>
            <a:rect r="r" b="b" t="t" l="l"/>
            <a:pathLst>
              <a:path h="3544472" w="5509542">
                <a:moveTo>
                  <a:pt x="0" y="0"/>
                </a:moveTo>
                <a:lnTo>
                  <a:pt x="5509542" y="0"/>
                </a:lnTo>
                <a:lnTo>
                  <a:pt x="5509542" y="3544472"/>
                </a:lnTo>
                <a:lnTo>
                  <a:pt x="0" y="35444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428750" y="3934796"/>
            <a:ext cx="15830550" cy="2520148"/>
            <a:chOff x="0" y="0"/>
            <a:chExt cx="21107400" cy="336019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852793"/>
              <a:ext cx="21107400" cy="25074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Minder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 loops/functies om met collecties te werken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Goed (automatisch) parallelliseerbaar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Ideaal voor 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multi-dimensionale arrays (matrices)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66675"/>
              <a:ext cx="9334500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Gevolgen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503241"/>
            <a:ext cx="6908962" cy="7355009"/>
          </a:xfrm>
          <a:custGeom>
            <a:avLst/>
            <a:gdLst/>
            <a:ahLst/>
            <a:cxnLst/>
            <a:rect r="r" b="b" t="t" l="l"/>
            <a:pathLst>
              <a:path h="7355009" w="6908962">
                <a:moveTo>
                  <a:pt x="0" y="0"/>
                </a:moveTo>
                <a:lnTo>
                  <a:pt x="6908962" y="0"/>
                </a:lnTo>
                <a:lnTo>
                  <a:pt x="6908962" y="7355009"/>
                </a:lnTo>
                <a:lnTo>
                  <a:pt x="0" y="73550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60285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343900" y="3087203"/>
            <a:ext cx="8515350" cy="2503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Array Programming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343900" y="6009172"/>
            <a:ext cx="85153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79"/>
              </a:lnSpc>
              <a:spcBef>
                <a:spcPct val="0"/>
              </a:spcBef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In de R taal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3992078"/>
            <a:ext cx="15430500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7F7F7"/>
                </a:solidFill>
                <a:latin typeface="Barlow Bold"/>
                <a:ea typeface="Barlow Bold"/>
                <a:cs typeface="Barlow Bold"/>
                <a:sym typeface="Barlow Bold"/>
              </a:rPr>
              <a:t>Stack-based </a:t>
            </a:r>
            <a:r>
              <a:rPr lang="en-US" b="true" sz="7200">
                <a:solidFill>
                  <a:srgbClr val="F7F7F7"/>
                </a:solidFill>
                <a:latin typeface="Barlow Bold"/>
                <a:ea typeface="Barlow Bold"/>
                <a:cs typeface="Barlow Bold"/>
                <a:sym typeface="Barlow Bold"/>
              </a:rPr>
              <a:t>Programming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1295400"/>
            <a:ext cx="14203693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Stack-based programming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28750" y="2925146"/>
            <a:ext cx="16135750" cy="622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  <a:spcBef>
                <a:spcPct val="0"/>
              </a:spcBef>
            </a:pPr>
            <a:r>
              <a:rPr lang="en-US" b="true" sz="3599">
                <a:solidFill>
                  <a:srgbClr val="FFFFFF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E</a:t>
            </a:r>
            <a:r>
              <a:rPr lang="en-US" b="true" sz="3599">
                <a:solidFill>
                  <a:srgbClr val="FFFFFF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xecutie van code door push en pop operaties op de stack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428750" y="3997610"/>
            <a:ext cx="15007431" cy="2520665"/>
            <a:chOff x="0" y="0"/>
            <a:chExt cx="20009909" cy="3360886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853483"/>
              <a:ext cx="20009909" cy="25074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Snel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E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envoudig te leren (relatief)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Concatenative (alles bouwt voort op elkaar)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-66675"/>
              <a:ext cx="5748787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Gevolgen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428750" y="6994525"/>
            <a:ext cx="15007431" cy="1872965"/>
            <a:chOff x="0" y="0"/>
            <a:chExt cx="20009909" cy="2497286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853483"/>
              <a:ext cx="20009909" cy="16438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Hardware met weining resources (🚀)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Virtual machines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-66675"/>
              <a:ext cx="5748787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Toepassingen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503241"/>
            <a:ext cx="6908962" cy="7355009"/>
          </a:xfrm>
          <a:custGeom>
            <a:avLst/>
            <a:gdLst/>
            <a:ahLst/>
            <a:cxnLst/>
            <a:rect r="r" b="b" t="t" l="l"/>
            <a:pathLst>
              <a:path h="7355009" w="6908962">
                <a:moveTo>
                  <a:pt x="0" y="0"/>
                </a:moveTo>
                <a:lnTo>
                  <a:pt x="6908962" y="0"/>
                </a:lnTo>
                <a:lnTo>
                  <a:pt x="6908962" y="7355009"/>
                </a:lnTo>
                <a:lnTo>
                  <a:pt x="0" y="73550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60285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343900" y="3087203"/>
            <a:ext cx="8515350" cy="2503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Stack-based Programming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343900" y="6009172"/>
            <a:ext cx="85153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79"/>
              </a:lnSpc>
              <a:spcBef>
                <a:spcPct val="0"/>
              </a:spcBef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In de 8th taal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3992078"/>
            <a:ext cx="15430500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7F7F7"/>
                </a:solidFill>
                <a:latin typeface="Barlow Bold"/>
                <a:ea typeface="Barlow Bold"/>
                <a:cs typeface="Barlow Bold"/>
                <a:sym typeface="Barlow Bold"/>
              </a:rPr>
              <a:t>Logic Programming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28750" y="1295400"/>
            <a:ext cx="9069409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Logic Programming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28750" y="2925146"/>
            <a:ext cx="16135750" cy="1261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  <a:spcBef>
                <a:spcPct val="0"/>
              </a:spcBef>
            </a:pPr>
            <a:r>
              <a:rPr lang="en-US" b="true" sz="3599">
                <a:solidFill>
                  <a:srgbClr val="FFFFFF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P</a:t>
            </a:r>
            <a:r>
              <a:rPr lang="en-US" b="true" sz="3599">
                <a:solidFill>
                  <a:srgbClr val="FFFFFF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roblemen zijn gedefiniëerd als feiten en regels en worden (geautomatiseerd) opgelost mbv logica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588394" y="4561695"/>
            <a:ext cx="4470621" cy="4470621"/>
          </a:xfrm>
          <a:custGeom>
            <a:avLst/>
            <a:gdLst/>
            <a:ahLst/>
            <a:cxnLst/>
            <a:rect r="r" b="b" t="t" l="l"/>
            <a:pathLst>
              <a:path h="4470621" w="4470621">
                <a:moveTo>
                  <a:pt x="0" y="0"/>
                </a:moveTo>
                <a:lnTo>
                  <a:pt x="4470620" y="0"/>
                </a:lnTo>
                <a:lnTo>
                  <a:pt x="4470620" y="4470621"/>
                </a:lnTo>
                <a:lnTo>
                  <a:pt x="0" y="4470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428750" y="4662506"/>
            <a:ext cx="9069409" cy="2520148"/>
            <a:chOff x="0" y="0"/>
            <a:chExt cx="12092546" cy="3360197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852793"/>
              <a:ext cx="12092546" cy="25074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Simpel model: alles is een feit of een regel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Declaratief: 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focus op </a:t>
              </a:r>
              <a:r>
                <a:rPr lang="en-US" sz="3199" i="true" spc="12">
                  <a:solidFill>
                    <a:srgbClr val="FFFFFF"/>
                  </a:solidFill>
                  <a:latin typeface="Barlow Italics"/>
                  <a:ea typeface="Barlow Italics"/>
                  <a:cs typeface="Barlow Italics"/>
                  <a:sym typeface="Barlow Italics"/>
                </a:rPr>
                <a:t>wat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 op te lossen</a:t>
              </a: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, niet </a:t>
              </a:r>
              <a:r>
                <a:rPr lang="en-US" sz="3199" i="true" spc="12">
                  <a:solidFill>
                    <a:srgbClr val="FFFFFF"/>
                  </a:solidFill>
                  <a:latin typeface="Barlow Italics"/>
                  <a:ea typeface="Barlow Italics"/>
                  <a:cs typeface="Barlow Italics"/>
                  <a:sym typeface="Barlow Italics"/>
                </a:rPr>
                <a:t>hoe</a:t>
              </a:r>
            </a:p>
            <a:p>
              <a:pPr algn="l" marL="1381758" indent="-460586" lvl="2">
                <a:lnSpc>
                  <a:spcPts val="5119"/>
                </a:lnSpc>
                <a:buFont typeface="Arial"/>
                <a:buChar char="⚬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Lijkt op relationele DB queries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66675"/>
              <a:ext cx="5347787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Gevolgen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28750" y="7674376"/>
            <a:ext cx="9069409" cy="1872448"/>
            <a:chOff x="0" y="0"/>
            <a:chExt cx="12092546" cy="249659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852793"/>
              <a:ext cx="12092546" cy="16438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Problemen met relaties en logica</a:t>
              </a:r>
            </a:p>
            <a:p>
              <a:pPr algn="l" marL="690879" indent="-345439" lvl="1">
                <a:lnSpc>
                  <a:spcPts val="5119"/>
                </a:lnSpc>
                <a:buFont typeface="Arial"/>
                <a:buChar char="•"/>
              </a:pPr>
              <a:r>
                <a:rPr lang="en-US" sz="3199" spc="12">
                  <a:solidFill>
                    <a:srgbClr val="FFFFFF"/>
                  </a:solidFill>
                  <a:latin typeface="Barlow"/>
                  <a:ea typeface="Barlow"/>
                  <a:cs typeface="Barlow"/>
                  <a:sym typeface="Barlow"/>
                </a:rPr>
                <a:t>Problemen met set aan beperkingen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66675"/>
              <a:ext cx="5347787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FFFFF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Toepassingen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503241"/>
            <a:ext cx="6908962" cy="7355009"/>
          </a:xfrm>
          <a:custGeom>
            <a:avLst/>
            <a:gdLst/>
            <a:ahLst/>
            <a:cxnLst/>
            <a:rect r="r" b="b" t="t" l="l"/>
            <a:pathLst>
              <a:path h="7355009" w="6908962">
                <a:moveTo>
                  <a:pt x="0" y="0"/>
                </a:moveTo>
                <a:lnTo>
                  <a:pt x="6908962" y="0"/>
                </a:lnTo>
                <a:lnTo>
                  <a:pt x="6908962" y="7355009"/>
                </a:lnTo>
                <a:lnTo>
                  <a:pt x="0" y="73550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60285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343900" y="3087203"/>
            <a:ext cx="8515350" cy="2503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Logic Programming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343900" y="6009172"/>
            <a:ext cx="851535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79"/>
              </a:lnSpc>
              <a:spcBef>
                <a:spcPct val="0"/>
              </a:spcBef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In de Prolog taal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65B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287623" y="1805645"/>
            <a:ext cx="4971874" cy="6218509"/>
          </a:xfrm>
          <a:custGeom>
            <a:avLst/>
            <a:gdLst/>
            <a:ahLst/>
            <a:cxnLst/>
            <a:rect r="r" b="b" t="t" l="l"/>
            <a:pathLst>
              <a:path h="6218509" w="4971874">
                <a:moveTo>
                  <a:pt x="0" y="0"/>
                </a:moveTo>
                <a:lnTo>
                  <a:pt x="4971875" y="0"/>
                </a:lnTo>
                <a:lnTo>
                  <a:pt x="4971875" y="6218510"/>
                </a:lnTo>
                <a:lnTo>
                  <a:pt x="0" y="62185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428750" y="3248779"/>
            <a:ext cx="8515350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Bedankt!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28750" y="4848225"/>
            <a:ext cx="5315349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79"/>
              </a:lnSpc>
              <a:spcBef>
                <a:spcPct val="0"/>
              </a:spcBef>
            </a:pPr>
            <a:r>
              <a:rPr lang="en-US" sz="3199" spc="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Contact: @erikschierboom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DAG0PuoZr4s</dc:identifier>
  <dcterms:modified xsi:type="dcterms:W3CDTF">2011-08-01T06:04:30Z</dcterms:modified>
  <cp:revision>1</cp:revision>
  <dc:title>Nimma.codes - Waarom je nieuwe programmeertalen moet leren</dc:title>
</cp:coreProperties>
</file>